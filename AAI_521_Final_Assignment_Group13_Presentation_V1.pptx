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860" y="-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919F8F-6AFC-F94E-96D6-D3A0B66A4BE4}" type="doc">
      <dgm:prSet loTypeId="urn:microsoft.com/office/officeart/2008/layout/AlternatingHexagons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34E39095-4C99-0A4E-BC0D-9382F9B4D0B6}">
      <dgm:prSet phldrT="[Text]"/>
      <dgm:spPr/>
      <dgm:t>
        <a:bodyPr/>
        <a:lstStyle/>
        <a:p>
          <a:r>
            <a:rPr lang="en-GB" dirty="0"/>
            <a:t> </a:t>
          </a:r>
        </a:p>
      </dgm:t>
    </dgm:pt>
    <dgm:pt modelId="{AE0AA19C-992C-0948-9141-718CB76525AC}" type="parTrans" cxnId="{879CA334-52F8-CA47-839A-C0A16F3FCF93}">
      <dgm:prSet/>
      <dgm:spPr/>
      <dgm:t>
        <a:bodyPr/>
        <a:lstStyle/>
        <a:p>
          <a:endParaRPr lang="en-GB"/>
        </a:p>
      </dgm:t>
    </dgm:pt>
    <dgm:pt modelId="{6003F01B-A34E-1F4D-AF5E-237727FB6B49}" type="sibTrans" cxnId="{879CA334-52F8-CA47-839A-C0A16F3FCF93}">
      <dgm:prSet/>
      <dgm:spPr/>
      <dgm:t>
        <a:bodyPr/>
        <a:lstStyle/>
        <a:p>
          <a:endParaRPr lang="en-GB"/>
        </a:p>
      </dgm:t>
    </dgm:pt>
    <dgm:pt modelId="{A4E126FD-56CC-384A-AE5D-FEB7B82E6F3E}">
      <dgm:prSet phldrT="[Text]" custT="1"/>
      <dgm:spPr/>
      <dgm:t>
        <a:bodyPr/>
        <a:lstStyle/>
        <a:p>
          <a:r>
            <a:rPr lang="en-GB" sz="1400" b="1" dirty="0"/>
            <a:t>Random Rotation</a:t>
          </a:r>
        </a:p>
      </dgm:t>
    </dgm:pt>
    <dgm:pt modelId="{C9A50354-3FD6-C342-ACF5-31D9D560ECDA}" type="parTrans" cxnId="{7E8B360D-6595-1243-A6EC-DA7D0151C25F}">
      <dgm:prSet/>
      <dgm:spPr/>
      <dgm:t>
        <a:bodyPr/>
        <a:lstStyle/>
        <a:p>
          <a:endParaRPr lang="en-GB"/>
        </a:p>
      </dgm:t>
    </dgm:pt>
    <dgm:pt modelId="{2AAE41E5-985C-5F45-A599-889B6C654786}" type="sibTrans" cxnId="{7E8B360D-6595-1243-A6EC-DA7D0151C25F}">
      <dgm:prSet/>
      <dgm:spPr/>
      <dgm:t>
        <a:bodyPr/>
        <a:lstStyle/>
        <a:p>
          <a:endParaRPr lang="en-GB"/>
        </a:p>
      </dgm:t>
    </dgm:pt>
    <dgm:pt modelId="{A7E058B5-C6C2-0A4D-85BF-AB168DDA9990}">
      <dgm:prSet phldrT="[Text]"/>
      <dgm:spPr/>
      <dgm:t>
        <a:bodyPr/>
        <a:lstStyle/>
        <a:p>
          <a:r>
            <a:rPr lang="en-GB" dirty="0"/>
            <a:t> </a:t>
          </a:r>
        </a:p>
      </dgm:t>
    </dgm:pt>
    <dgm:pt modelId="{8FDFC1BD-724D-8242-94DD-F0DD3406BC4E}" type="parTrans" cxnId="{1463A417-A72A-A541-AE6E-99D64A931CDA}">
      <dgm:prSet/>
      <dgm:spPr/>
      <dgm:t>
        <a:bodyPr/>
        <a:lstStyle/>
        <a:p>
          <a:endParaRPr lang="en-GB"/>
        </a:p>
      </dgm:t>
    </dgm:pt>
    <dgm:pt modelId="{D37F1002-D8B7-9F4C-AFF1-8A78BC702195}" type="sibTrans" cxnId="{1463A417-A72A-A541-AE6E-99D64A931CDA}">
      <dgm:prSet/>
      <dgm:spPr/>
      <dgm:t>
        <a:bodyPr/>
        <a:lstStyle/>
        <a:p>
          <a:endParaRPr lang="en-GB"/>
        </a:p>
      </dgm:t>
    </dgm:pt>
    <dgm:pt modelId="{2A7B1775-1579-B04F-80DC-0507531313C6}">
      <dgm:prSet phldrT="[Text]" custT="1"/>
      <dgm:spPr/>
      <dgm:t>
        <a:bodyPr/>
        <a:lstStyle/>
        <a:p>
          <a:r>
            <a:rPr lang="en-GB" sz="1400" b="1" dirty="0"/>
            <a:t>Horizontal Flip</a:t>
          </a:r>
        </a:p>
      </dgm:t>
    </dgm:pt>
    <dgm:pt modelId="{321813D6-1CD1-FE40-9402-626FA0FD52AF}" type="parTrans" cxnId="{6793D3DC-4C73-6549-9D9B-E3266F0C4A5B}">
      <dgm:prSet/>
      <dgm:spPr/>
      <dgm:t>
        <a:bodyPr/>
        <a:lstStyle/>
        <a:p>
          <a:endParaRPr lang="en-GB"/>
        </a:p>
      </dgm:t>
    </dgm:pt>
    <dgm:pt modelId="{8F727B33-08F7-4145-BC65-A50EE7AFDD04}" type="sibTrans" cxnId="{6793D3DC-4C73-6549-9D9B-E3266F0C4A5B}">
      <dgm:prSet/>
      <dgm:spPr/>
      <dgm:t>
        <a:bodyPr/>
        <a:lstStyle/>
        <a:p>
          <a:endParaRPr lang="en-GB"/>
        </a:p>
      </dgm:t>
    </dgm:pt>
    <dgm:pt modelId="{0A06CC37-FFEC-D145-AD79-5F9AB1C79A0D}">
      <dgm:prSet phldrT="[Text]"/>
      <dgm:spPr/>
      <dgm:t>
        <a:bodyPr/>
        <a:lstStyle/>
        <a:p>
          <a:r>
            <a:rPr lang="en-GB" dirty="0"/>
            <a:t> </a:t>
          </a:r>
        </a:p>
      </dgm:t>
    </dgm:pt>
    <dgm:pt modelId="{FA9393AD-9EA4-214B-9DB1-DC009A5BDF74}" type="parTrans" cxnId="{F52E6D99-7288-CA47-B45B-477DA9D6CB41}">
      <dgm:prSet/>
      <dgm:spPr/>
      <dgm:t>
        <a:bodyPr/>
        <a:lstStyle/>
        <a:p>
          <a:endParaRPr lang="en-GB"/>
        </a:p>
      </dgm:t>
    </dgm:pt>
    <dgm:pt modelId="{63609104-7615-BC46-B593-0D80B11E6A91}" type="sibTrans" cxnId="{F52E6D99-7288-CA47-B45B-477DA9D6CB41}">
      <dgm:prSet/>
      <dgm:spPr/>
      <dgm:t>
        <a:bodyPr/>
        <a:lstStyle/>
        <a:p>
          <a:endParaRPr lang="en-GB"/>
        </a:p>
      </dgm:t>
    </dgm:pt>
    <dgm:pt modelId="{8C55755F-5270-BF4A-9765-8281838CAA10}">
      <dgm:prSet phldrT="[Text]" custT="1"/>
      <dgm:spPr/>
      <dgm:t>
        <a:bodyPr/>
        <a:lstStyle/>
        <a:p>
          <a:pPr>
            <a:buNone/>
          </a:pPr>
          <a:r>
            <a:rPr lang="en-US" sz="1400" b="1" dirty="0">
              <a:solidFill>
                <a:srgbClr val="0F253A"/>
              </a:solidFill>
            </a:rPr>
            <a:t>Small affine transforms</a:t>
          </a:r>
          <a:endParaRPr lang="en-GB" sz="1400" b="1" dirty="0"/>
        </a:p>
      </dgm:t>
    </dgm:pt>
    <dgm:pt modelId="{EF97FE9D-6293-644D-9A5E-A6C2845AC815}" type="parTrans" cxnId="{2DF26E4C-0C42-B94B-B5F4-E0502470A958}">
      <dgm:prSet/>
      <dgm:spPr/>
      <dgm:t>
        <a:bodyPr/>
        <a:lstStyle/>
        <a:p>
          <a:endParaRPr lang="en-GB"/>
        </a:p>
      </dgm:t>
    </dgm:pt>
    <dgm:pt modelId="{5C9A1DE2-EE11-A646-8B4A-DACBBEDAEC20}" type="sibTrans" cxnId="{2DF26E4C-0C42-B94B-B5F4-E0502470A958}">
      <dgm:prSet/>
      <dgm:spPr/>
      <dgm:t>
        <a:bodyPr/>
        <a:lstStyle/>
        <a:p>
          <a:endParaRPr lang="en-GB"/>
        </a:p>
      </dgm:t>
    </dgm:pt>
    <dgm:pt modelId="{1B356064-EB5F-E248-A8F1-740170D00C0C}">
      <dgm:prSet phldrT="[Text]" custT="1"/>
      <dgm:spPr/>
      <dgm:t>
        <a:bodyPr/>
        <a:lstStyle/>
        <a:p>
          <a:pPr>
            <a:buNone/>
          </a:pPr>
          <a:r>
            <a:rPr lang="en-US" sz="1400" b="1" dirty="0">
              <a:solidFill>
                <a:srgbClr val="0F253A"/>
              </a:solidFill>
            </a:rPr>
            <a:t>Color jitter (brightness/Contrast)</a:t>
          </a:r>
          <a:endParaRPr lang="en-GB" sz="1400" b="1" dirty="0"/>
        </a:p>
      </dgm:t>
    </dgm:pt>
    <dgm:pt modelId="{F0D132A5-163D-C74F-AEA5-906EF8B9E992}" type="parTrans" cxnId="{1DE5599D-7AE8-924E-B9E1-E785C1EE8F22}">
      <dgm:prSet/>
      <dgm:spPr/>
      <dgm:t>
        <a:bodyPr/>
        <a:lstStyle/>
        <a:p>
          <a:endParaRPr lang="en-GB"/>
        </a:p>
      </dgm:t>
    </dgm:pt>
    <dgm:pt modelId="{BBAE9B89-571C-8E41-BC47-FC1DDBC483F7}" type="sibTrans" cxnId="{1DE5599D-7AE8-924E-B9E1-E785C1EE8F22}">
      <dgm:prSet/>
      <dgm:spPr/>
      <dgm:t>
        <a:bodyPr/>
        <a:lstStyle/>
        <a:p>
          <a:endParaRPr lang="en-GB"/>
        </a:p>
      </dgm:t>
    </dgm:pt>
    <dgm:pt modelId="{46E00C92-6E29-0642-9343-FA9F8DDF4523}">
      <dgm:prSet phldrT="[Text]"/>
      <dgm:spPr/>
      <dgm:t>
        <a:bodyPr/>
        <a:lstStyle/>
        <a:p>
          <a:endParaRPr lang="en-GB" dirty="0"/>
        </a:p>
      </dgm:t>
    </dgm:pt>
    <dgm:pt modelId="{23F73B8E-3F93-344C-888C-79E1EBFA68F1}" type="parTrans" cxnId="{E74289FF-E338-944C-A237-FCDCBF8C241F}">
      <dgm:prSet/>
      <dgm:spPr/>
      <dgm:t>
        <a:bodyPr/>
        <a:lstStyle/>
        <a:p>
          <a:endParaRPr lang="en-GB"/>
        </a:p>
      </dgm:t>
    </dgm:pt>
    <dgm:pt modelId="{19B10E1D-2627-874A-A82C-8D7E4F376BCD}" type="sibTrans" cxnId="{E74289FF-E338-944C-A237-FCDCBF8C241F}">
      <dgm:prSet/>
      <dgm:spPr/>
      <dgm:t>
        <a:bodyPr/>
        <a:lstStyle/>
        <a:p>
          <a:endParaRPr lang="en-GB"/>
        </a:p>
      </dgm:t>
    </dgm:pt>
    <dgm:pt modelId="{C96AB4FD-2F6D-034F-B8F7-AC38D26E42A8}" type="pres">
      <dgm:prSet presAssocID="{22919F8F-6AFC-F94E-96D6-D3A0B66A4BE4}" presName="Name0" presStyleCnt="0">
        <dgm:presLayoutVars>
          <dgm:chMax/>
          <dgm:chPref/>
          <dgm:dir/>
          <dgm:animLvl val="lvl"/>
        </dgm:presLayoutVars>
      </dgm:prSet>
      <dgm:spPr/>
    </dgm:pt>
    <dgm:pt modelId="{017A8179-BCCB-8E41-89C6-55A3D94ED3D7}" type="pres">
      <dgm:prSet presAssocID="{34E39095-4C99-0A4E-BC0D-9382F9B4D0B6}" presName="composite" presStyleCnt="0"/>
      <dgm:spPr/>
    </dgm:pt>
    <dgm:pt modelId="{76E41736-B917-8742-9D8A-916016F089FB}" type="pres">
      <dgm:prSet presAssocID="{34E39095-4C99-0A4E-BC0D-9382F9B4D0B6}" presName="Parent1" presStyleLbl="node1" presStyleIdx="0" presStyleCnt="8">
        <dgm:presLayoutVars>
          <dgm:chMax val="1"/>
          <dgm:chPref val="1"/>
          <dgm:bulletEnabled val="1"/>
        </dgm:presLayoutVars>
      </dgm:prSet>
      <dgm:spPr/>
    </dgm:pt>
    <dgm:pt modelId="{8A47FA97-12D2-B046-BC7A-021B100F5922}" type="pres">
      <dgm:prSet presAssocID="{34E39095-4C99-0A4E-BC0D-9382F9B4D0B6}" presName="Childtext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807A1B62-C128-1E4A-BE91-30566DF49889}" type="pres">
      <dgm:prSet presAssocID="{34E39095-4C99-0A4E-BC0D-9382F9B4D0B6}" presName="BalanceSpacing" presStyleCnt="0"/>
      <dgm:spPr/>
    </dgm:pt>
    <dgm:pt modelId="{433B2711-1048-494A-8696-36F57EF4AC5B}" type="pres">
      <dgm:prSet presAssocID="{34E39095-4C99-0A4E-BC0D-9382F9B4D0B6}" presName="BalanceSpacing1" presStyleCnt="0"/>
      <dgm:spPr/>
    </dgm:pt>
    <dgm:pt modelId="{8D798812-8A6D-BB46-8EF7-DE9B6BD2E567}" type="pres">
      <dgm:prSet presAssocID="{6003F01B-A34E-1F4D-AF5E-237727FB6B49}" presName="Accent1Text" presStyleLbl="node1" presStyleIdx="1" presStyleCnt="8"/>
      <dgm:spPr/>
    </dgm:pt>
    <dgm:pt modelId="{142C39AA-E11F-844C-A187-AE2D72A303AF}" type="pres">
      <dgm:prSet presAssocID="{6003F01B-A34E-1F4D-AF5E-237727FB6B49}" presName="spaceBetweenRectangles" presStyleCnt="0"/>
      <dgm:spPr/>
    </dgm:pt>
    <dgm:pt modelId="{94F6CE74-CC6A-1C48-8C37-613451D7344C}" type="pres">
      <dgm:prSet presAssocID="{A7E058B5-C6C2-0A4D-85BF-AB168DDA9990}" presName="composite" presStyleCnt="0"/>
      <dgm:spPr/>
    </dgm:pt>
    <dgm:pt modelId="{CC285BF4-689B-964C-9ADD-2473F091EE37}" type="pres">
      <dgm:prSet presAssocID="{A7E058B5-C6C2-0A4D-85BF-AB168DDA9990}" presName="Parent1" presStyleLbl="node1" presStyleIdx="2" presStyleCnt="8">
        <dgm:presLayoutVars>
          <dgm:chMax val="1"/>
          <dgm:chPref val="1"/>
          <dgm:bulletEnabled val="1"/>
        </dgm:presLayoutVars>
      </dgm:prSet>
      <dgm:spPr/>
    </dgm:pt>
    <dgm:pt modelId="{B06154F4-3AEC-7848-AD61-09CDB4C3EC98}" type="pres">
      <dgm:prSet presAssocID="{A7E058B5-C6C2-0A4D-85BF-AB168DDA9990}" presName="Childtext1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4F5668E7-4426-6841-BEF6-270E27AA8ECE}" type="pres">
      <dgm:prSet presAssocID="{A7E058B5-C6C2-0A4D-85BF-AB168DDA9990}" presName="BalanceSpacing" presStyleCnt="0"/>
      <dgm:spPr/>
    </dgm:pt>
    <dgm:pt modelId="{AB18A0B1-9230-A949-85C3-7709BDE0D7E4}" type="pres">
      <dgm:prSet presAssocID="{A7E058B5-C6C2-0A4D-85BF-AB168DDA9990}" presName="BalanceSpacing1" presStyleCnt="0"/>
      <dgm:spPr/>
    </dgm:pt>
    <dgm:pt modelId="{FE0A4B95-4AFA-8E49-8207-BE289EDC7046}" type="pres">
      <dgm:prSet presAssocID="{D37F1002-D8B7-9F4C-AFF1-8A78BC702195}" presName="Accent1Text" presStyleLbl="node1" presStyleIdx="3" presStyleCnt="8"/>
      <dgm:spPr/>
    </dgm:pt>
    <dgm:pt modelId="{521539B9-5E4E-2946-B8C8-A3BDEB023132}" type="pres">
      <dgm:prSet presAssocID="{D37F1002-D8B7-9F4C-AFF1-8A78BC702195}" presName="spaceBetweenRectangles" presStyleCnt="0"/>
      <dgm:spPr/>
    </dgm:pt>
    <dgm:pt modelId="{C1B6B1E6-99D6-4A41-AABD-3B66873CCFAB}" type="pres">
      <dgm:prSet presAssocID="{0A06CC37-FFEC-D145-AD79-5F9AB1C79A0D}" presName="composite" presStyleCnt="0"/>
      <dgm:spPr/>
    </dgm:pt>
    <dgm:pt modelId="{302472BB-8BF2-714F-9420-C5701736BAB0}" type="pres">
      <dgm:prSet presAssocID="{0A06CC37-FFEC-D145-AD79-5F9AB1C79A0D}" presName="Parent1" presStyleLbl="node1" presStyleIdx="4" presStyleCnt="8">
        <dgm:presLayoutVars>
          <dgm:chMax val="1"/>
          <dgm:chPref val="1"/>
          <dgm:bulletEnabled val="1"/>
        </dgm:presLayoutVars>
      </dgm:prSet>
      <dgm:spPr/>
    </dgm:pt>
    <dgm:pt modelId="{C219FEFB-9BDC-EE48-84F9-07B288CBC3E6}" type="pres">
      <dgm:prSet presAssocID="{0A06CC37-FFEC-D145-AD79-5F9AB1C79A0D}" presName="Childtext1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D3FEA17E-822A-F840-8A0A-81D7089723BE}" type="pres">
      <dgm:prSet presAssocID="{0A06CC37-FFEC-D145-AD79-5F9AB1C79A0D}" presName="BalanceSpacing" presStyleCnt="0"/>
      <dgm:spPr/>
    </dgm:pt>
    <dgm:pt modelId="{CFE1B931-80E3-6043-BF53-13C58FE50F30}" type="pres">
      <dgm:prSet presAssocID="{0A06CC37-FFEC-D145-AD79-5F9AB1C79A0D}" presName="BalanceSpacing1" presStyleCnt="0"/>
      <dgm:spPr/>
    </dgm:pt>
    <dgm:pt modelId="{47707B12-68E2-4241-B937-57CA92A5DE8F}" type="pres">
      <dgm:prSet presAssocID="{63609104-7615-BC46-B593-0D80B11E6A91}" presName="Accent1Text" presStyleLbl="node1" presStyleIdx="5" presStyleCnt="8"/>
      <dgm:spPr/>
    </dgm:pt>
    <dgm:pt modelId="{4B4489F4-B2E6-4442-AF4C-8BC86A49FFF6}" type="pres">
      <dgm:prSet presAssocID="{63609104-7615-BC46-B593-0D80B11E6A91}" presName="spaceBetweenRectangles" presStyleCnt="0"/>
      <dgm:spPr/>
    </dgm:pt>
    <dgm:pt modelId="{2550E17E-28FB-2441-83F6-1D982E60BBEF}" type="pres">
      <dgm:prSet presAssocID="{46E00C92-6E29-0642-9343-FA9F8DDF4523}" presName="composite" presStyleCnt="0"/>
      <dgm:spPr/>
    </dgm:pt>
    <dgm:pt modelId="{BBE53057-C2D2-EC4C-A328-680667C0702E}" type="pres">
      <dgm:prSet presAssocID="{46E00C92-6E29-0642-9343-FA9F8DDF4523}" presName="Parent1" presStyleLbl="node1" presStyleIdx="6" presStyleCnt="8">
        <dgm:presLayoutVars>
          <dgm:chMax val="1"/>
          <dgm:chPref val="1"/>
          <dgm:bulletEnabled val="1"/>
        </dgm:presLayoutVars>
      </dgm:prSet>
      <dgm:spPr/>
    </dgm:pt>
    <dgm:pt modelId="{76D48A02-6337-344F-8965-373872823FAD}" type="pres">
      <dgm:prSet presAssocID="{46E00C92-6E29-0642-9343-FA9F8DDF4523}" presName="Childtext1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E63F7E7A-5B2F-834D-BA0B-33838C5C7E35}" type="pres">
      <dgm:prSet presAssocID="{46E00C92-6E29-0642-9343-FA9F8DDF4523}" presName="BalanceSpacing" presStyleCnt="0"/>
      <dgm:spPr/>
    </dgm:pt>
    <dgm:pt modelId="{DF32D301-AD80-3F4D-978E-E76312AACC1B}" type="pres">
      <dgm:prSet presAssocID="{46E00C92-6E29-0642-9343-FA9F8DDF4523}" presName="BalanceSpacing1" presStyleCnt="0"/>
      <dgm:spPr/>
    </dgm:pt>
    <dgm:pt modelId="{AD4CBEBC-1E8A-464C-95CE-3D2446C5BD51}" type="pres">
      <dgm:prSet presAssocID="{19B10E1D-2627-874A-A82C-8D7E4F376BCD}" presName="Accent1Text" presStyleLbl="node1" presStyleIdx="7" presStyleCnt="8"/>
      <dgm:spPr/>
    </dgm:pt>
  </dgm:ptLst>
  <dgm:cxnLst>
    <dgm:cxn modelId="{49B61105-36FE-5140-BE88-E75F1F061AAC}" type="presOf" srcId="{8C55755F-5270-BF4A-9765-8281838CAA10}" destId="{C219FEFB-9BDC-EE48-84F9-07B288CBC3E6}" srcOrd="0" destOrd="0" presId="urn:microsoft.com/office/officeart/2008/layout/AlternatingHexagons"/>
    <dgm:cxn modelId="{7B501F06-E21B-3548-862D-8835E54575CD}" type="presOf" srcId="{34E39095-4C99-0A4E-BC0D-9382F9B4D0B6}" destId="{76E41736-B917-8742-9D8A-916016F089FB}" srcOrd="0" destOrd="0" presId="urn:microsoft.com/office/officeart/2008/layout/AlternatingHexagons"/>
    <dgm:cxn modelId="{7E8B360D-6595-1243-A6EC-DA7D0151C25F}" srcId="{34E39095-4C99-0A4E-BC0D-9382F9B4D0B6}" destId="{A4E126FD-56CC-384A-AE5D-FEB7B82E6F3E}" srcOrd="0" destOrd="0" parTransId="{C9A50354-3FD6-C342-ACF5-31D9D560ECDA}" sibTransId="{2AAE41E5-985C-5F45-A599-889B6C654786}"/>
    <dgm:cxn modelId="{1463A417-A72A-A541-AE6E-99D64A931CDA}" srcId="{22919F8F-6AFC-F94E-96D6-D3A0B66A4BE4}" destId="{A7E058B5-C6C2-0A4D-85BF-AB168DDA9990}" srcOrd="1" destOrd="0" parTransId="{8FDFC1BD-724D-8242-94DD-F0DD3406BC4E}" sibTransId="{D37F1002-D8B7-9F4C-AFF1-8A78BC702195}"/>
    <dgm:cxn modelId="{F8BAFF2A-BBA0-714C-B245-6818E88C0911}" type="presOf" srcId="{6003F01B-A34E-1F4D-AF5E-237727FB6B49}" destId="{8D798812-8A6D-BB46-8EF7-DE9B6BD2E567}" srcOrd="0" destOrd="0" presId="urn:microsoft.com/office/officeart/2008/layout/AlternatingHexagons"/>
    <dgm:cxn modelId="{38E1932D-D009-2049-A715-96D93A7DA3EE}" type="presOf" srcId="{0A06CC37-FFEC-D145-AD79-5F9AB1C79A0D}" destId="{302472BB-8BF2-714F-9420-C5701736BAB0}" srcOrd="0" destOrd="0" presId="urn:microsoft.com/office/officeart/2008/layout/AlternatingHexagons"/>
    <dgm:cxn modelId="{879CA334-52F8-CA47-839A-C0A16F3FCF93}" srcId="{22919F8F-6AFC-F94E-96D6-D3A0B66A4BE4}" destId="{34E39095-4C99-0A4E-BC0D-9382F9B4D0B6}" srcOrd="0" destOrd="0" parTransId="{AE0AA19C-992C-0948-9141-718CB76525AC}" sibTransId="{6003F01B-A34E-1F4D-AF5E-237727FB6B49}"/>
    <dgm:cxn modelId="{F5691F5F-9A43-DE4B-B3C5-7701075C43DF}" type="presOf" srcId="{A7E058B5-C6C2-0A4D-85BF-AB168DDA9990}" destId="{CC285BF4-689B-964C-9ADD-2473F091EE37}" srcOrd="0" destOrd="0" presId="urn:microsoft.com/office/officeart/2008/layout/AlternatingHexagons"/>
    <dgm:cxn modelId="{2DF26E4C-0C42-B94B-B5F4-E0502470A958}" srcId="{0A06CC37-FFEC-D145-AD79-5F9AB1C79A0D}" destId="{8C55755F-5270-BF4A-9765-8281838CAA10}" srcOrd="0" destOrd="0" parTransId="{EF97FE9D-6293-644D-9A5E-A6C2845AC815}" sibTransId="{5C9A1DE2-EE11-A646-8B4A-DACBBEDAEC20}"/>
    <dgm:cxn modelId="{CF64DF4F-05F0-4D46-B4D3-8E047091435E}" type="presOf" srcId="{D37F1002-D8B7-9F4C-AFF1-8A78BC702195}" destId="{FE0A4B95-4AFA-8E49-8207-BE289EDC7046}" srcOrd="0" destOrd="0" presId="urn:microsoft.com/office/officeart/2008/layout/AlternatingHexagons"/>
    <dgm:cxn modelId="{C9A03C70-0289-4A4A-B1AB-ED6FEF3306D6}" type="presOf" srcId="{46E00C92-6E29-0642-9343-FA9F8DDF4523}" destId="{BBE53057-C2D2-EC4C-A328-680667C0702E}" srcOrd="0" destOrd="0" presId="urn:microsoft.com/office/officeart/2008/layout/AlternatingHexagons"/>
    <dgm:cxn modelId="{F30ED258-6BA7-7540-8D43-D5B9C8841AA3}" type="presOf" srcId="{22919F8F-6AFC-F94E-96D6-D3A0B66A4BE4}" destId="{C96AB4FD-2F6D-034F-B8F7-AC38D26E42A8}" srcOrd="0" destOrd="0" presId="urn:microsoft.com/office/officeart/2008/layout/AlternatingHexagons"/>
    <dgm:cxn modelId="{F52E6D99-7288-CA47-B45B-477DA9D6CB41}" srcId="{22919F8F-6AFC-F94E-96D6-D3A0B66A4BE4}" destId="{0A06CC37-FFEC-D145-AD79-5F9AB1C79A0D}" srcOrd="2" destOrd="0" parTransId="{FA9393AD-9EA4-214B-9DB1-DC009A5BDF74}" sibTransId="{63609104-7615-BC46-B593-0D80B11E6A91}"/>
    <dgm:cxn modelId="{39403B9C-44A1-A042-B354-C452DBBAD5D5}" type="presOf" srcId="{19B10E1D-2627-874A-A82C-8D7E4F376BCD}" destId="{AD4CBEBC-1E8A-464C-95CE-3D2446C5BD51}" srcOrd="0" destOrd="0" presId="urn:microsoft.com/office/officeart/2008/layout/AlternatingHexagons"/>
    <dgm:cxn modelId="{1DE5599D-7AE8-924E-B9E1-E785C1EE8F22}" srcId="{46E00C92-6E29-0642-9343-FA9F8DDF4523}" destId="{1B356064-EB5F-E248-A8F1-740170D00C0C}" srcOrd="0" destOrd="0" parTransId="{F0D132A5-163D-C74F-AEA5-906EF8B9E992}" sibTransId="{BBAE9B89-571C-8E41-BC47-FC1DDBC483F7}"/>
    <dgm:cxn modelId="{6793D3DC-4C73-6549-9D9B-E3266F0C4A5B}" srcId="{A7E058B5-C6C2-0A4D-85BF-AB168DDA9990}" destId="{2A7B1775-1579-B04F-80DC-0507531313C6}" srcOrd="0" destOrd="0" parTransId="{321813D6-1CD1-FE40-9402-626FA0FD52AF}" sibTransId="{8F727B33-08F7-4145-BC65-A50EE7AFDD04}"/>
    <dgm:cxn modelId="{6030C8E5-6D39-E04F-AA46-6850D245356E}" type="presOf" srcId="{2A7B1775-1579-B04F-80DC-0507531313C6}" destId="{B06154F4-3AEC-7848-AD61-09CDB4C3EC98}" srcOrd="0" destOrd="0" presId="urn:microsoft.com/office/officeart/2008/layout/AlternatingHexagons"/>
    <dgm:cxn modelId="{6A3084EA-D9B5-9A4C-91AC-642C39A69095}" type="presOf" srcId="{63609104-7615-BC46-B593-0D80B11E6A91}" destId="{47707B12-68E2-4241-B937-57CA92A5DE8F}" srcOrd="0" destOrd="0" presId="urn:microsoft.com/office/officeart/2008/layout/AlternatingHexagons"/>
    <dgm:cxn modelId="{FB656DF6-4118-1F40-9098-8626FD5917C9}" type="presOf" srcId="{1B356064-EB5F-E248-A8F1-740170D00C0C}" destId="{76D48A02-6337-344F-8965-373872823FAD}" srcOrd="0" destOrd="0" presId="urn:microsoft.com/office/officeart/2008/layout/AlternatingHexagons"/>
    <dgm:cxn modelId="{6B95E5F8-F4D3-C74A-9F6C-1D116B27B959}" type="presOf" srcId="{A4E126FD-56CC-384A-AE5D-FEB7B82E6F3E}" destId="{8A47FA97-12D2-B046-BC7A-021B100F5922}" srcOrd="0" destOrd="0" presId="urn:microsoft.com/office/officeart/2008/layout/AlternatingHexagons"/>
    <dgm:cxn modelId="{E74289FF-E338-944C-A237-FCDCBF8C241F}" srcId="{22919F8F-6AFC-F94E-96D6-D3A0B66A4BE4}" destId="{46E00C92-6E29-0642-9343-FA9F8DDF4523}" srcOrd="3" destOrd="0" parTransId="{23F73B8E-3F93-344C-888C-79E1EBFA68F1}" sibTransId="{19B10E1D-2627-874A-A82C-8D7E4F376BCD}"/>
    <dgm:cxn modelId="{1C74299A-413F-EF41-9840-8787E8F0C644}" type="presParOf" srcId="{C96AB4FD-2F6D-034F-B8F7-AC38D26E42A8}" destId="{017A8179-BCCB-8E41-89C6-55A3D94ED3D7}" srcOrd="0" destOrd="0" presId="urn:microsoft.com/office/officeart/2008/layout/AlternatingHexagons"/>
    <dgm:cxn modelId="{4C2D3D57-04BE-3840-9481-ACF2C8530566}" type="presParOf" srcId="{017A8179-BCCB-8E41-89C6-55A3D94ED3D7}" destId="{76E41736-B917-8742-9D8A-916016F089FB}" srcOrd="0" destOrd="0" presId="urn:microsoft.com/office/officeart/2008/layout/AlternatingHexagons"/>
    <dgm:cxn modelId="{C70E4E5F-A5B7-C24F-88F3-1024FA5B2FD6}" type="presParOf" srcId="{017A8179-BCCB-8E41-89C6-55A3D94ED3D7}" destId="{8A47FA97-12D2-B046-BC7A-021B100F5922}" srcOrd="1" destOrd="0" presId="urn:microsoft.com/office/officeart/2008/layout/AlternatingHexagons"/>
    <dgm:cxn modelId="{3B3A9F43-8276-DD45-BBC9-D124F773BB8E}" type="presParOf" srcId="{017A8179-BCCB-8E41-89C6-55A3D94ED3D7}" destId="{807A1B62-C128-1E4A-BE91-30566DF49889}" srcOrd="2" destOrd="0" presId="urn:microsoft.com/office/officeart/2008/layout/AlternatingHexagons"/>
    <dgm:cxn modelId="{7C76B9D7-F0D1-EC46-8AD0-E659BB9E16B5}" type="presParOf" srcId="{017A8179-BCCB-8E41-89C6-55A3D94ED3D7}" destId="{433B2711-1048-494A-8696-36F57EF4AC5B}" srcOrd="3" destOrd="0" presId="urn:microsoft.com/office/officeart/2008/layout/AlternatingHexagons"/>
    <dgm:cxn modelId="{63A3F756-163E-244C-BA52-AADC8A3F2AB8}" type="presParOf" srcId="{017A8179-BCCB-8E41-89C6-55A3D94ED3D7}" destId="{8D798812-8A6D-BB46-8EF7-DE9B6BD2E567}" srcOrd="4" destOrd="0" presId="urn:microsoft.com/office/officeart/2008/layout/AlternatingHexagons"/>
    <dgm:cxn modelId="{1ABC7A1F-F24F-CE4B-86BF-EE2D62C6A306}" type="presParOf" srcId="{C96AB4FD-2F6D-034F-B8F7-AC38D26E42A8}" destId="{142C39AA-E11F-844C-A187-AE2D72A303AF}" srcOrd="1" destOrd="0" presId="urn:microsoft.com/office/officeart/2008/layout/AlternatingHexagons"/>
    <dgm:cxn modelId="{6A8592BC-0B95-5246-8539-F87E87DDCA5C}" type="presParOf" srcId="{C96AB4FD-2F6D-034F-B8F7-AC38D26E42A8}" destId="{94F6CE74-CC6A-1C48-8C37-613451D7344C}" srcOrd="2" destOrd="0" presId="urn:microsoft.com/office/officeart/2008/layout/AlternatingHexagons"/>
    <dgm:cxn modelId="{343D4F1F-6732-C44C-9D8E-04467383EC7D}" type="presParOf" srcId="{94F6CE74-CC6A-1C48-8C37-613451D7344C}" destId="{CC285BF4-689B-964C-9ADD-2473F091EE37}" srcOrd="0" destOrd="0" presId="urn:microsoft.com/office/officeart/2008/layout/AlternatingHexagons"/>
    <dgm:cxn modelId="{6ED9F6E6-BE57-7B41-B131-4673065A58D3}" type="presParOf" srcId="{94F6CE74-CC6A-1C48-8C37-613451D7344C}" destId="{B06154F4-3AEC-7848-AD61-09CDB4C3EC98}" srcOrd="1" destOrd="0" presId="urn:microsoft.com/office/officeart/2008/layout/AlternatingHexagons"/>
    <dgm:cxn modelId="{CC9A03A7-B6C7-E44E-9137-F1203CD3C19F}" type="presParOf" srcId="{94F6CE74-CC6A-1C48-8C37-613451D7344C}" destId="{4F5668E7-4426-6841-BEF6-270E27AA8ECE}" srcOrd="2" destOrd="0" presId="urn:microsoft.com/office/officeart/2008/layout/AlternatingHexagons"/>
    <dgm:cxn modelId="{FD5D7652-F416-7F46-AFE9-E3567B1A4DBE}" type="presParOf" srcId="{94F6CE74-CC6A-1C48-8C37-613451D7344C}" destId="{AB18A0B1-9230-A949-85C3-7709BDE0D7E4}" srcOrd="3" destOrd="0" presId="urn:microsoft.com/office/officeart/2008/layout/AlternatingHexagons"/>
    <dgm:cxn modelId="{FEC55D80-DF15-2C4E-966F-31356E27B85A}" type="presParOf" srcId="{94F6CE74-CC6A-1C48-8C37-613451D7344C}" destId="{FE0A4B95-4AFA-8E49-8207-BE289EDC7046}" srcOrd="4" destOrd="0" presId="urn:microsoft.com/office/officeart/2008/layout/AlternatingHexagons"/>
    <dgm:cxn modelId="{9D830D9B-4587-4A40-9EDD-A11C99285435}" type="presParOf" srcId="{C96AB4FD-2F6D-034F-B8F7-AC38D26E42A8}" destId="{521539B9-5E4E-2946-B8C8-A3BDEB023132}" srcOrd="3" destOrd="0" presId="urn:microsoft.com/office/officeart/2008/layout/AlternatingHexagons"/>
    <dgm:cxn modelId="{A63A72DA-F486-0B4F-8A6C-3F2CE98FEBDC}" type="presParOf" srcId="{C96AB4FD-2F6D-034F-B8F7-AC38D26E42A8}" destId="{C1B6B1E6-99D6-4A41-AABD-3B66873CCFAB}" srcOrd="4" destOrd="0" presId="urn:microsoft.com/office/officeart/2008/layout/AlternatingHexagons"/>
    <dgm:cxn modelId="{C6AC8154-2442-B84C-943A-666FAD342A84}" type="presParOf" srcId="{C1B6B1E6-99D6-4A41-AABD-3B66873CCFAB}" destId="{302472BB-8BF2-714F-9420-C5701736BAB0}" srcOrd="0" destOrd="0" presId="urn:microsoft.com/office/officeart/2008/layout/AlternatingHexagons"/>
    <dgm:cxn modelId="{4C8EA91D-705B-4C4B-AA29-D9B6E1A99024}" type="presParOf" srcId="{C1B6B1E6-99D6-4A41-AABD-3B66873CCFAB}" destId="{C219FEFB-9BDC-EE48-84F9-07B288CBC3E6}" srcOrd="1" destOrd="0" presId="urn:microsoft.com/office/officeart/2008/layout/AlternatingHexagons"/>
    <dgm:cxn modelId="{55516B36-A110-794B-B833-6A9D750AE001}" type="presParOf" srcId="{C1B6B1E6-99D6-4A41-AABD-3B66873CCFAB}" destId="{D3FEA17E-822A-F840-8A0A-81D7089723BE}" srcOrd="2" destOrd="0" presId="urn:microsoft.com/office/officeart/2008/layout/AlternatingHexagons"/>
    <dgm:cxn modelId="{487D7FF5-1022-8440-8FB4-D0071E31FB54}" type="presParOf" srcId="{C1B6B1E6-99D6-4A41-AABD-3B66873CCFAB}" destId="{CFE1B931-80E3-6043-BF53-13C58FE50F30}" srcOrd="3" destOrd="0" presId="urn:microsoft.com/office/officeart/2008/layout/AlternatingHexagons"/>
    <dgm:cxn modelId="{508744CD-456F-0C40-9242-03D619844E49}" type="presParOf" srcId="{C1B6B1E6-99D6-4A41-AABD-3B66873CCFAB}" destId="{47707B12-68E2-4241-B937-57CA92A5DE8F}" srcOrd="4" destOrd="0" presId="urn:microsoft.com/office/officeart/2008/layout/AlternatingHexagons"/>
    <dgm:cxn modelId="{E8C771D2-1F8A-1446-93C5-2132866246C1}" type="presParOf" srcId="{C96AB4FD-2F6D-034F-B8F7-AC38D26E42A8}" destId="{4B4489F4-B2E6-4442-AF4C-8BC86A49FFF6}" srcOrd="5" destOrd="0" presId="urn:microsoft.com/office/officeart/2008/layout/AlternatingHexagons"/>
    <dgm:cxn modelId="{E66E6C75-9C56-6F46-BB23-CFF7D11AEA17}" type="presParOf" srcId="{C96AB4FD-2F6D-034F-B8F7-AC38D26E42A8}" destId="{2550E17E-28FB-2441-83F6-1D982E60BBEF}" srcOrd="6" destOrd="0" presId="urn:microsoft.com/office/officeart/2008/layout/AlternatingHexagons"/>
    <dgm:cxn modelId="{8053EF74-10CE-6F4E-B63A-15EB64D7B814}" type="presParOf" srcId="{2550E17E-28FB-2441-83F6-1D982E60BBEF}" destId="{BBE53057-C2D2-EC4C-A328-680667C0702E}" srcOrd="0" destOrd="0" presId="urn:microsoft.com/office/officeart/2008/layout/AlternatingHexagons"/>
    <dgm:cxn modelId="{F113A9E0-DF4C-1F44-8689-2F33B88CADA8}" type="presParOf" srcId="{2550E17E-28FB-2441-83F6-1D982E60BBEF}" destId="{76D48A02-6337-344F-8965-373872823FAD}" srcOrd="1" destOrd="0" presId="urn:microsoft.com/office/officeart/2008/layout/AlternatingHexagons"/>
    <dgm:cxn modelId="{27AC75CF-6709-EF47-BD28-E6EB5ADBECA4}" type="presParOf" srcId="{2550E17E-28FB-2441-83F6-1D982E60BBEF}" destId="{E63F7E7A-5B2F-834D-BA0B-33838C5C7E35}" srcOrd="2" destOrd="0" presId="urn:microsoft.com/office/officeart/2008/layout/AlternatingHexagons"/>
    <dgm:cxn modelId="{3694A44A-E07C-DF47-84E9-1EC602C81562}" type="presParOf" srcId="{2550E17E-28FB-2441-83F6-1D982E60BBEF}" destId="{DF32D301-AD80-3F4D-978E-E76312AACC1B}" srcOrd="3" destOrd="0" presId="urn:microsoft.com/office/officeart/2008/layout/AlternatingHexagons"/>
    <dgm:cxn modelId="{7C68B72F-8389-094C-8B49-67C8F6553D26}" type="presParOf" srcId="{2550E17E-28FB-2441-83F6-1D982E60BBEF}" destId="{AD4CBEBC-1E8A-464C-95CE-3D2446C5BD51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E41736-B917-8742-9D8A-916016F089FB}">
      <dsp:nvSpPr>
        <dsp:cNvPr id="0" name=""/>
        <dsp:cNvSpPr/>
      </dsp:nvSpPr>
      <dsp:spPr>
        <a:xfrm rot="5400000">
          <a:off x="2148360" y="66853"/>
          <a:ext cx="1010646" cy="879262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 </a:t>
          </a:r>
        </a:p>
      </dsp:txBody>
      <dsp:txXfrm rot="-5400000">
        <a:off x="2351070" y="158653"/>
        <a:ext cx="605226" cy="695662"/>
      </dsp:txXfrm>
    </dsp:sp>
    <dsp:sp modelId="{8A47FA97-12D2-B046-BC7A-021B100F5922}">
      <dsp:nvSpPr>
        <dsp:cNvPr id="0" name=""/>
        <dsp:cNvSpPr/>
      </dsp:nvSpPr>
      <dsp:spPr>
        <a:xfrm>
          <a:off x="3119995" y="203291"/>
          <a:ext cx="1127881" cy="606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Random Rotation</a:t>
          </a:r>
        </a:p>
      </dsp:txBody>
      <dsp:txXfrm>
        <a:off x="3119995" y="203291"/>
        <a:ext cx="1127881" cy="606387"/>
      </dsp:txXfrm>
    </dsp:sp>
    <dsp:sp modelId="{8D798812-8A6D-BB46-8EF7-DE9B6BD2E567}">
      <dsp:nvSpPr>
        <dsp:cNvPr id="0" name=""/>
        <dsp:cNvSpPr/>
      </dsp:nvSpPr>
      <dsp:spPr>
        <a:xfrm rot="5400000">
          <a:off x="1198756" y="66853"/>
          <a:ext cx="1010646" cy="879262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1419125"/>
            <a:satOff val="5687"/>
            <a:lumOff val="12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1401466" y="158653"/>
        <a:ext cx="605226" cy="695662"/>
      </dsp:txXfrm>
    </dsp:sp>
    <dsp:sp modelId="{CC285BF4-689B-964C-9ADD-2473F091EE37}">
      <dsp:nvSpPr>
        <dsp:cNvPr id="0" name=""/>
        <dsp:cNvSpPr/>
      </dsp:nvSpPr>
      <dsp:spPr>
        <a:xfrm rot="5400000">
          <a:off x="1671739" y="924690"/>
          <a:ext cx="1010646" cy="879262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2838251"/>
            <a:satOff val="11375"/>
            <a:lumOff val="24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 </a:t>
          </a:r>
        </a:p>
      </dsp:txBody>
      <dsp:txXfrm rot="-5400000">
        <a:off x="1874449" y="1016490"/>
        <a:ext cx="605226" cy="695662"/>
      </dsp:txXfrm>
    </dsp:sp>
    <dsp:sp modelId="{B06154F4-3AEC-7848-AD61-09CDB4C3EC98}">
      <dsp:nvSpPr>
        <dsp:cNvPr id="0" name=""/>
        <dsp:cNvSpPr/>
      </dsp:nvSpPr>
      <dsp:spPr>
        <a:xfrm>
          <a:off x="609550" y="1061127"/>
          <a:ext cx="1091498" cy="606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Horizontal Flip</a:t>
          </a:r>
        </a:p>
      </dsp:txBody>
      <dsp:txXfrm>
        <a:off x="609550" y="1061127"/>
        <a:ext cx="1091498" cy="606387"/>
      </dsp:txXfrm>
    </dsp:sp>
    <dsp:sp modelId="{FE0A4B95-4AFA-8E49-8207-BE289EDC7046}">
      <dsp:nvSpPr>
        <dsp:cNvPr id="0" name=""/>
        <dsp:cNvSpPr/>
      </dsp:nvSpPr>
      <dsp:spPr>
        <a:xfrm rot="5400000">
          <a:off x="2621342" y="924690"/>
          <a:ext cx="1010646" cy="879262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4257376"/>
            <a:satOff val="17062"/>
            <a:lumOff val="36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2824052" y="1016490"/>
        <a:ext cx="605226" cy="695662"/>
      </dsp:txXfrm>
    </dsp:sp>
    <dsp:sp modelId="{302472BB-8BF2-714F-9420-C5701736BAB0}">
      <dsp:nvSpPr>
        <dsp:cNvPr id="0" name=""/>
        <dsp:cNvSpPr/>
      </dsp:nvSpPr>
      <dsp:spPr>
        <a:xfrm rot="5400000">
          <a:off x="2148360" y="1782527"/>
          <a:ext cx="1010646" cy="879262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5676501"/>
            <a:satOff val="22749"/>
            <a:lumOff val="49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 </a:t>
          </a:r>
        </a:p>
      </dsp:txBody>
      <dsp:txXfrm rot="-5400000">
        <a:off x="2351070" y="1874327"/>
        <a:ext cx="605226" cy="695662"/>
      </dsp:txXfrm>
    </dsp:sp>
    <dsp:sp modelId="{C219FEFB-9BDC-EE48-84F9-07B288CBC3E6}">
      <dsp:nvSpPr>
        <dsp:cNvPr id="0" name=""/>
        <dsp:cNvSpPr/>
      </dsp:nvSpPr>
      <dsp:spPr>
        <a:xfrm>
          <a:off x="3119995" y="1918964"/>
          <a:ext cx="1127881" cy="606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F253A"/>
              </a:solidFill>
            </a:rPr>
            <a:t>Small affine transforms</a:t>
          </a:r>
          <a:endParaRPr lang="en-GB" sz="1400" b="1" kern="1200" dirty="0"/>
        </a:p>
      </dsp:txBody>
      <dsp:txXfrm>
        <a:off x="3119995" y="1918964"/>
        <a:ext cx="1127881" cy="606387"/>
      </dsp:txXfrm>
    </dsp:sp>
    <dsp:sp modelId="{47707B12-68E2-4241-B937-57CA92A5DE8F}">
      <dsp:nvSpPr>
        <dsp:cNvPr id="0" name=""/>
        <dsp:cNvSpPr/>
      </dsp:nvSpPr>
      <dsp:spPr>
        <a:xfrm rot="5400000">
          <a:off x="1198756" y="1782527"/>
          <a:ext cx="1010646" cy="879262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7095626"/>
            <a:satOff val="28436"/>
            <a:lumOff val="616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1401466" y="1874327"/>
        <a:ext cx="605226" cy="695662"/>
      </dsp:txXfrm>
    </dsp:sp>
    <dsp:sp modelId="{BBE53057-C2D2-EC4C-A328-680667C0702E}">
      <dsp:nvSpPr>
        <dsp:cNvPr id="0" name=""/>
        <dsp:cNvSpPr/>
      </dsp:nvSpPr>
      <dsp:spPr>
        <a:xfrm rot="5400000">
          <a:off x="1671739" y="2640363"/>
          <a:ext cx="1010646" cy="879262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8514751"/>
            <a:satOff val="34124"/>
            <a:lumOff val="739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200" kern="1200" dirty="0"/>
        </a:p>
      </dsp:txBody>
      <dsp:txXfrm rot="-5400000">
        <a:off x="1874449" y="2732163"/>
        <a:ext cx="605226" cy="695662"/>
      </dsp:txXfrm>
    </dsp:sp>
    <dsp:sp modelId="{76D48A02-6337-344F-8965-373872823FAD}">
      <dsp:nvSpPr>
        <dsp:cNvPr id="0" name=""/>
        <dsp:cNvSpPr/>
      </dsp:nvSpPr>
      <dsp:spPr>
        <a:xfrm>
          <a:off x="609550" y="2776800"/>
          <a:ext cx="1091498" cy="606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F253A"/>
              </a:solidFill>
            </a:rPr>
            <a:t>Color jitter (brightness/Contrast)</a:t>
          </a:r>
          <a:endParaRPr lang="en-GB" sz="1400" b="1" kern="1200" dirty="0"/>
        </a:p>
      </dsp:txBody>
      <dsp:txXfrm>
        <a:off x="609550" y="2776800"/>
        <a:ext cx="1091498" cy="606387"/>
      </dsp:txXfrm>
    </dsp:sp>
    <dsp:sp modelId="{AD4CBEBC-1E8A-464C-95CE-3D2446C5BD51}">
      <dsp:nvSpPr>
        <dsp:cNvPr id="0" name=""/>
        <dsp:cNvSpPr/>
      </dsp:nvSpPr>
      <dsp:spPr>
        <a:xfrm rot="5400000">
          <a:off x="2621342" y="2640363"/>
          <a:ext cx="1010646" cy="879262"/>
        </a:xfrm>
        <a:prstGeom prst="hexagon">
          <a:avLst>
            <a:gd name="adj" fmla="val 25000"/>
            <a:gd name="vf" fmla="val 11547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2824052" y="2732163"/>
        <a:ext cx="605226" cy="6956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13DCA-043F-4EA1-8D46-8B74CE0F8E97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07F2-3465-41CD-8B8D-1D07E8329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5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624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57250"/>
            <a:ext cx="9144000" cy="5143500"/>
          </a:xfrm>
          <a:prstGeom prst="rect">
            <a:avLst/>
          </a:prstGeom>
          <a:solidFill>
            <a:srgbClr val="001220">
              <a:alpha val="60000"/>
            </a:srgbClr>
          </a:solidFill>
          <a:ln w="12700">
            <a:solidFill>
              <a:srgbClr val="001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59676" y="131445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</a:rPr>
              <a:t>Automated Waste Classification
using Deep Learning &amp; Hybrid Models</a:t>
            </a:r>
          </a:p>
        </p:txBody>
      </p:sp>
      <p:sp>
        <p:nvSpPr>
          <p:cNvPr id="5" name="Text 2"/>
          <p:cNvSpPr/>
          <p:nvPr/>
        </p:nvSpPr>
        <p:spPr>
          <a:xfrm>
            <a:off x="315310" y="494209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E0E8EF"/>
                </a:solidFill>
              </a:rPr>
              <a:t>AA521 Final Assignment – TrashNet Dataset
</a:t>
            </a:r>
            <a:r>
              <a:rPr lang="en-US" sz="1400" dirty="0">
                <a:solidFill>
                  <a:srgbClr val="C4DCE6"/>
                </a:solidFill>
              </a:rPr>
              <a:t>Group 13 – </a:t>
            </a:r>
            <a:r>
              <a:rPr lang="en-US" sz="1400" dirty="0" err="1">
                <a:solidFill>
                  <a:srgbClr val="C4DCE6"/>
                </a:solidFill>
              </a:rPr>
              <a:t>Laxminag</a:t>
            </a:r>
            <a:r>
              <a:rPr lang="en-US" sz="1400" dirty="0">
                <a:solidFill>
                  <a:srgbClr val="C4DCE6"/>
                </a:solidFill>
              </a:rPr>
              <a:t> M, Kaushik M</a:t>
            </a:r>
            <a:endParaRPr lang="en-US" sz="1400" dirty="0"/>
          </a:p>
          <a:p>
            <a:r>
              <a:rPr lang="en-US" sz="1200" i="1" dirty="0">
                <a:solidFill>
                  <a:srgbClr val="B0C8D6"/>
                </a:solidFill>
              </a:rPr>
              <a:t>December 6,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8618455-FDA2-9003-418C-BA81E921A76E}"/>
              </a:ext>
            </a:extLst>
          </p:cNvPr>
          <p:cNvSpPr/>
          <p:nvPr/>
        </p:nvSpPr>
        <p:spPr>
          <a:xfrm>
            <a:off x="4843223" y="1985709"/>
            <a:ext cx="3843579" cy="4288964"/>
          </a:xfrm>
          <a:prstGeom prst="roundRect">
            <a:avLst>
              <a:gd name="adj" fmla="val 5059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88B6AF6-8C82-08F5-DAC8-07BE4A627040}"/>
              </a:ext>
            </a:extLst>
          </p:cNvPr>
          <p:cNvSpPr/>
          <p:nvPr/>
        </p:nvSpPr>
        <p:spPr>
          <a:xfrm>
            <a:off x="596682" y="1985709"/>
            <a:ext cx="3975319" cy="4288965"/>
          </a:xfrm>
          <a:prstGeom prst="roundRect">
            <a:avLst>
              <a:gd name="adj" fmla="val 5059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6682" y="1579367"/>
            <a:ext cx="3704095" cy="3395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375C"/>
                </a:solidFill>
              </a:rPr>
              <a:t>Background</a:t>
            </a:r>
            <a:endParaRPr lang="en-US" sz="2000" b="1" dirty="0">
              <a:solidFill>
                <a:srgbClr val="10375C"/>
              </a:solidFill>
            </a:endParaRPr>
          </a:p>
          <a:p>
            <a:endParaRPr lang="en-US" sz="2000" b="1" dirty="0">
              <a:solidFill>
                <a:srgbClr val="10375C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53A"/>
                </a:solidFill>
              </a:rPr>
              <a:t>Growing municipal waste volumes </a:t>
            </a:r>
            <a:r>
              <a:rPr lang="en-US" sz="2000" b="1" dirty="0">
                <a:solidFill>
                  <a:srgbClr val="0F253A"/>
                </a:solidFill>
              </a:rPr>
              <a:t>challenge cities worldwide.</a:t>
            </a:r>
            <a:r>
              <a:rPr lang="en-US" sz="2000" dirty="0">
                <a:solidFill>
                  <a:srgbClr val="0F253A"/>
                </a:solidFill>
              </a:rPr>
              <a:t>
Manual sorting is </a:t>
            </a:r>
            <a:r>
              <a:rPr lang="en-US" sz="2000" b="1" dirty="0">
                <a:solidFill>
                  <a:srgbClr val="0F253A"/>
                </a:solidFill>
              </a:rPr>
              <a:t>slow, labour‑intensive and exposes</a:t>
            </a:r>
            <a:r>
              <a:rPr lang="en-US" sz="2000" dirty="0">
                <a:solidFill>
                  <a:srgbClr val="0F253A"/>
                </a:solidFill>
              </a:rPr>
              <a:t> workers to health risks.
Misclassification leads to </a:t>
            </a:r>
            <a:r>
              <a:rPr lang="en-US" sz="2000" b="1" dirty="0">
                <a:solidFill>
                  <a:srgbClr val="0F253A"/>
                </a:solidFill>
              </a:rPr>
              <a:t>landfill use </a:t>
            </a:r>
            <a:r>
              <a:rPr lang="en-US" sz="2000" dirty="0">
                <a:solidFill>
                  <a:srgbClr val="0F253A"/>
                </a:solidFill>
              </a:rPr>
              <a:t>and </a:t>
            </a:r>
            <a:r>
              <a:rPr lang="en-US" sz="2000" b="1" dirty="0">
                <a:solidFill>
                  <a:srgbClr val="0F253A"/>
                </a:solidFill>
              </a:rPr>
              <a:t>loss of recyclable resources.</a:t>
            </a:r>
            <a:endParaRPr lang="en-US" sz="2800" b="1" dirty="0"/>
          </a:p>
        </p:txBody>
      </p:sp>
      <p:sp>
        <p:nvSpPr>
          <p:cNvPr id="5" name="Text 3"/>
          <p:cNvSpPr/>
          <p:nvPr/>
        </p:nvSpPr>
        <p:spPr>
          <a:xfrm>
            <a:off x="4843223" y="2096800"/>
            <a:ext cx="3843578" cy="3602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375C"/>
                </a:solidFill>
              </a:rPr>
              <a:t>Objectives</a:t>
            </a:r>
            <a:r>
              <a:rPr lang="en-US" sz="2000" b="1" dirty="0">
                <a:solidFill>
                  <a:srgbClr val="10375C"/>
                </a:solidFill>
              </a:rPr>
              <a:t>
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53A"/>
                </a:solidFill>
              </a:rPr>
              <a:t>Explore the </a:t>
            </a:r>
            <a:r>
              <a:rPr lang="en-US" sz="2000" b="1" dirty="0">
                <a:solidFill>
                  <a:srgbClr val="0F253A"/>
                </a:solidFill>
              </a:rPr>
              <a:t>TrashNet dataset </a:t>
            </a:r>
            <a:r>
              <a:rPr lang="en-US" sz="2000" dirty="0">
                <a:solidFill>
                  <a:srgbClr val="0F253A"/>
                </a:solidFill>
              </a:rPr>
              <a:t>and </a:t>
            </a:r>
            <a:r>
              <a:rPr lang="en-US" sz="2000" b="1" dirty="0">
                <a:solidFill>
                  <a:srgbClr val="0F253A"/>
                </a:solidFill>
              </a:rPr>
              <a:t>its distribution</a:t>
            </a:r>
            <a:r>
              <a:rPr lang="en-US" sz="2000" dirty="0">
                <a:solidFill>
                  <a:srgbClr val="0F253A"/>
                </a:solidFill>
              </a:rPr>
              <a:t>.
Build </a:t>
            </a:r>
            <a:r>
              <a:rPr lang="en-US" sz="2000" b="1" dirty="0">
                <a:solidFill>
                  <a:srgbClr val="0F253A"/>
                </a:solidFill>
              </a:rPr>
              <a:t>a baseline classifier </a:t>
            </a:r>
            <a:r>
              <a:rPr lang="en-US" sz="2000" dirty="0">
                <a:solidFill>
                  <a:srgbClr val="0F253A"/>
                </a:solidFill>
              </a:rPr>
              <a:t>using </a:t>
            </a:r>
            <a:r>
              <a:rPr lang="en-US" sz="2000" b="1" dirty="0">
                <a:solidFill>
                  <a:srgbClr val="0F253A"/>
                </a:solidFill>
              </a:rPr>
              <a:t>transfer learning</a:t>
            </a:r>
            <a:r>
              <a:rPr lang="en-US" sz="2000" dirty="0">
                <a:solidFill>
                  <a:srgbClr val="0F253A"/>
                </a:solidFill>
              </a:rPr>
              <a:t>.
Improve robustness </a:t>
            </a:r>
            <a:r>
              <a:rPr lang="en-US" sz="2000" b="1" dirty="0">
                <a:solidFill>
                  <a:srgbClr val="0F253A"/>
                </a:solidFill>
              </a:rPr>
              <a:t>via augmentation </a:t>
            </a:r>
            <a:r>
              <a:rPr lang="en-US" sz="2000" dirty="0">
                <a:solidFill>
                  <a:srgbClr val="0F253A"/>
                </a:solidFill>
              </a:rPr>
              <a:t>and</a:t>
            </a:r>
            <a:r>
              <a:rPr lang="en-US" sz="2000" b="1" dirty="0">
                <a:solidFill>
                  <a:srgbClr val="0F253A"/>
                </a:solidFill>
              </a:rPr>
              <a:t> class weighting</a:t>
            </a:r>
            <a:r>
              <a:rPr lang="en-US" sz="2000" dirty="0">
                <a:solidFill>
                  <a:srgbClr val="0F253A"/>
                </a:solidFill>
              </a:rPr>
              <a:t>.
Implement a </a:t>
            </a:r>
            <a:r>
              <a:rPr lang="en-US" sz="2000" b="1" dirty="0">
                <a:solidFill>
                  <a:srgbClr val="0F253A"/>
                </a:solidFill>
              </a:rPr>
              <a:t>hybrid model </a:t>
            </a:r>
            <a:r>
              <a:rPr lang="en-US" sz="2000" dirty="0">
                <a:solidFill>
                  <a:srgbClr val="0F253A"/>
                </a:solidFill>
              </a:rPr>
              <a:t>combining </a:t>
            </a:r>
            <a:r>
              <a:rPr lang="en-US" sz="2000" b="1" dirty="0">
                <a:solidFill>
                  <a:srgbClr val="0F253A"/>
                </a:solidFill>
              </a:rPr>
              <a:t>deep features with logistic regression.</a:t>
            </a:r>
            <a:r>
              <a:rPr lang="en-US" sz="2000" dirty="0">
                <a:solidFill>
                  <a:srgbClr val="0F253A"/>
                </a:solidFill>
              </a:rPr>
              <a:t>
Evaluate models using accuracy, precision/recall and confusion matrices.</a:t>
            </a:r>
            <a:endParaRPr lang="en-US" sz="2800" dirty="0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7FC57BDA-4B88-268A-B583-78E2D804D4ED}"/>
              </a:ext>
            </a:extLst>
          </p:cNvPr>
          <p:cNvSpPr/>
          <p:nvPr/>
        </p:nvSpPr>
        <p:spPr>
          <a:xfrm>
            <a:off x="0" y="857250"/>
            <a:ext cx="9144000" cy="548640"/>
          </a:xfrm>
          <a:prstGeom prst="rect">
            <a:avLst/>
          </a:prstGeom>
          <a:solidFill>
            <a:srgbClr val="10375C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83DAB24-F2C9-731F-48FC-79416691788C}"/>
              </a:ext>
            </a:extLst>
          </p:cNvPr>
          <p:cNvSpPr/>
          <p:nvPr/>
        </p:nvSpPr>
        <p:spPr>
          <a:xfrm>
            <a:off x="457200" y="94869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Background &amp; Objectives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9554656-BBF2-3E2C-B937-AB92FB88859D}"/>
              </a:ext>
            </a:extLst>
          </p:cNvPr>
          <p:cNvSpPr/>
          <p:nvPr/>
        </p:nvSpPr>
        <p:spPr>
          <a:xfrm>
            <a:off x="4055908" y="1922595"/>
            <a:ext cx="4912962" cy="4599296"/>
          </a:xfrm>
          <a:prstGeom prst="roundRect">
            <a:avLst>
              <a:gd name="adj" fmla="val 505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4245BFE-A6B5-2C7E-5BD4-EB7D7A661074}"/>
              </a:ext>
            </a:extLst>
          </p:cNvPr>
          <p:cNvSpPr/>
          <p:nvPr/>
        </p:nvSpPr>
        <p:spPr>
          <a:xfrm>
            <a:off x="175130" y="1922596"/>
            <a:ext cx="3704095" cy="4652926"/>
          </a:xfrm>
          <a:prstGeom prst="roundRect">
            <a:avLst>
              <a:gd name="adj" fmla="val 5059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857250"/>
            <a:ext cx="9144000" cy="548640"/>
          </a:xfrm>
          <a:prstGeom prst="rect">
            <a:avLst/>
          </a:prstGeom>
          <a:solidFill>
            <a:srgbClr val="10375C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4869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Dataset &amp; Preprocessing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08419" y="1681759"/>
            <a:ext cx="3603356" cy="4599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375C"/>
                </a:solidFill>
              </a:rPr>
              <a:t>TrashNet Dataset</a:t>
            </a:r>
            <a:r>
              <a:rPr lang="en-US" sz="1600" b="1" dirty="0">
                <a:solidFill>
                  <a:srgbClr val="10375C"/>
                </a:solidFill>
              </a:rPr>
              <a:t>
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253A"/>
                </a:solidFill>
              </a:rPr>
              <a:t>2,527 images </a:t>
            </a:r>
            <a:r>
              <a:rPr lang="en-US" sz="2000" dirty="0">
                <a:solidFill>
                  <a:srgbClr val="0F253A"/>
                </a:solidFill>
              </a:rPr>
              <a:t>across </a:t>
            </a:r>
            <a:r>
              <a:rPr lang="en-US" sz="2000" b="1" dirty="0">
                <a:solidFill>
                  <a:srgbClr val="0F253A"/>
                </a:solidFill>
              </a:rPr>
              <a:t>6 classes </a:t>
            </a:r>
            <a:r>
              <a:rPr lang="en-US" sz="2000" dirty="0">
                <a:solidFill>
                  <a:srgbClr val="0F253A"/>
                </a:solidFill>
              </a:rPr>
              <a:t>(cardboard, glass, metal, paper, plastic, trash).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53A"/>
                </a:solidFill>
              </a:rPr>
              <a:t>Images captured at ~512×384 pixels; </a:t>
            </a:r>
            <a:r>
              <a:rPr lang="en-US" sz="2000" b="1" dirty="0">
                <a:solidFill>
                  <a:srgbClr val="0F253A"/>
                </a:solidFill>
              </a:rPr>
              <a:t>resized to 224×224 </a:t>
            </a:r>
            <a:r>
              <a:rPr lang="en-US" sz="2000" dirty="0">
                <a:solidFill>
                  <a:srgbClr val="0F253A"/>
                </a:solidFill>
              </a:rPr>
              <a:t>for training.
</a:t>
            </a:r>
            <a:r>
              <a:rPr lang="en-US" sz="2000" b="1" dirty="0">
                <a:solidFill>
                  <a:srgbClr val="0F253A"/>
                </a:solidFill>
              </a:rPr>
              <a:t>Standard ImageNet normalisation </a:t>
            </a:r>
            <a:r>
              <a:rPr lang="en-US" sz="2000" dirty="0">
                <a:solidFill>
                  <a:srgbClr val="0F253A"/>
                </a:solidFill>
              </a:rPr>
              <a:t>applied (μ = (0.485, 0.456, 0.406), σ = (0.229, 0.224, 0.225)).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96270" y="2473224"/>
            <a:ext cx="3832237" cy="34980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79168" y="2141754"/>
            <a:ext cx="26316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375C"/>
                </a:solidFill>
              </a:rPr>
              <a:t>Class Distribution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548640"/>
          </a:xfrm>
          <a:prstGeom prst="rect">
            <a:avLst/>
          </a:prstGeom>
          <a:solidFill>
            <a:srgbClr val="10375C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4869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Data Augmentation &amp; Splitting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32946" y="1520190"/>
            <a:ext cx="2117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375C"/>
                </a:solidFill>
              </a:rPr>
              <a:t>Augmentation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629942" y="1520190"/>
            <a:ext cx="3008608" cy="32011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dirty="0">
                <a:solidFill>
                  <a:srgbClr val="10375C"/>
                </a:solidFill>
              </a:rPr>
              <a:t>Dataset Splitting</a:t>
            </a:r>
          </a:p>
          <a:p>
            <a:r>
              <a:rPr lang="en-US" sz="2800" b="1" dirty="0">
                <a:solidFill>
                  <a:srgbClr val="10375C"/>
                </a:solidFill>
              </a:rPr>
              <a:t>
</a:t>
            </a:r>
            <a:r>
              <a:rPr lang="en-US" sz="2000" dirty="0">
                <a:solidFill>
                  <a:srgbClr val="0F253A"/>
                </a:solidFill>
              </a:rPr>
              <a:t>• 70% training, 15% validation, 15% test.
• Stratified by class to preserve distribution.
• Augmentation only applied to training set.</a:t>
            </a:r>
            <a:endParaRPr lang="en-US" sz="2800" dirty="0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3FF53D26-99D7-927F-C484-8B279ABC11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7304133"/>
              </p:ext>
            </p:extLst>
          </p:nvPr>
        </p:nvGraphicFramePr>
        <p:xfrm>
          <a:off x="4238786" y="2000250"/>
          <a:ext cx="4857427" cy="3586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6763073" y="2412505"/>
            <a:ext cx="228600" cy="2286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6305872" y="3280410"/>
            <a:ext cx="228600" cy="2286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6763073" y="4102596"/>
            <a:ext cx="228600" cy="2286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1">
            <a:biLevel thresh="25000"/>
          </a:blip>
          <a:stretch>
            <a:fillRect/>
          </a:stretch>
        </p:blipFill>
        <p:spPr>
          <a:xfrm>
            <a:off x="6305872" y="4969144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548640"/>
          </a:xfrm>
          <a:prstGeom prst="rect">
            <a:avLst/>
          </a:prstGeom>
          <a:solidFill>
            <a:srgbClr val="10375C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4869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Baseline Deep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7057" y="3211286"/>
            <a:ext cx="7223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375C"/>
                </a:solidFill>
              </a:rPr>
              <a:t>Model Overview</a:t>
            </a:r>
          </a:p>
          <a:p>
            <a:r>
              <a:rPr lang="en-US" sz="2000" b="1" dirty="0">
                <a:solidFill>
                  <a:srgbClr val="10375C"/>
                </a:solidFill>
              </a:rPr>
              <a:t>
</a:t>
            </a:r>
            <a:r>
              <a:rPr lang="en-US" sz="2000" dirty="0">
                <a:solidFill>
                  <a:srgbClr val="0F253A"/>
                </a:solidFill>
              </a:rPr>
              <a:t>• Pretrained MobileNetV3 backbone fine‑tuned on TrashNet.
• Standard augmentation and uniform cross‑entropy loss.
• Quickly achieves ~88–90% accuracy on validation set.
• Sensitive to class imbalance; misclassifies minority classes.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7057" y="1863090"/>
            <a:ext cx="1463040" cy="890996"/>
          </a:xfrm>
          <a:prstGeom prst="roundRect">
            <a:avLst>
              <a:gd name="adj" fmla="val 14286"/>
            </a:avLst>
          </a:prstGeom>
          <a:solidFill>
            <a:srgbClr val="E1F3EF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47057" y="1863090"/>
            <a:ext cx="1463040" cy="89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0375C"/>
                </a:solidFill>
              </a:rPr>
              <a:t>Image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10097" y="2091690"/>
            <a:ext cx="457200" cy="254570"/>
          </a:xfrm>
          <a:prstGeom prst="rightArrow">
            <a:avLst/>
          </a:prstGeom>
          <a:solidFill>
            <a:srgbClr val="20B38E"/>
          </a:solidFill>
          <a:ln w="12700">
            <a:solidFill>
              <a:srgbClr val="20B3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767297" y="1863090"/>
            <a:ext cx="1463040" cy="890996"/>
          </a:xfrm>
          <a:prstGeom prst="roundRect">
            <a:avLst>
              <a:gd name="adj" fmla="val 14286"/>
            </a:avLst>
          </a:prstGeom>
          <a:solidFill>
            <a:srgbClr val="E1F3EF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767297" y="1863090"/>
            <a:ext cx="1463040" cy="89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0375C"/>
                </a:solidFill>
              </a:rPr>
              <a:t>Pretrained CNN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30337" y="2091690"/>
            <a:ext cx="457200" cy="254570"/>
          </a:xfrm>
          <a:prstGeom prst="rightArrow">
            <a:avLst/>
          </a:prstGeom>
          <a:solidFill>
            <a:srgbClr val="20B38E"/>
          </a:solidFill>
          <a:ln w="12700">
            <a:solidFill>
              <a:srgbClr val="20B3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687537" y="1863090"/>
            <a:ext cx="1463040" cy="890996"/>
          </a:xfrm>
          <a:prstGeom prst="roundRect">
            <a:avLst>
              <a:gd name="adj" fmla="val 14286"/>
            </a:avLst>
          </a:prstGeom>
          <a:solidFill>
            <a:srgbClr val="E1F3EF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687537" y="1863090"/>
            <a:ext cx="1463040" cy="89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10375C"/>
                </a:solidFill>
              </a:rPr>
              <a:t>Dense Layer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50577" y="2091690"/>
            <a:ext cx="457200" cy="254570"/>
          </a:xfrm>
          <a:prstGeom prst="rightArrow">
            <a:avLst/>
          </a:prstGeom>
          <a:solidFill>
            <a:srgbClr val="20B38E"/>
          </a:solidFill>
          <a:ln w="12700">
            <a:solidFill>
              <a:srgbClr val="20B3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607777" y="1863090"/>
            <a:ext cx="1463040" cy="890996"/>
          </a:xfrm>
          <a:prstGeom prst="roundRect">
            <a:avLst>
              <a:gd name="adj" fmla="val 14286"/>
            </a:avLst>
          </a:prstGeom>
          <a:solidFill>
            <a:srgbClr val="E1F3EF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5" name="Text 13"/>
          <p:cNvSpPr/>
          <p:nvPr/>
        </p:nvSpPr>
        <p:spPr>
          <a:xfrm>
            <a:off x="6607777" y="1863090"/>
            <a:ext cx="1463040" cy="890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10375C"/>
                </a:solidFill>
              </a:rPr>
              <a:t>6 Classes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548640"/>
          </a:xfrm>
          <a:prstGeom prst="rect">
            <a:avLst/>
          </a:prstGeom>
          <a:solidFill>
            <a:srgbClr val="10375C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4869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Improved Deep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98658" y="1488325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375C"/>
                </a:solidFill>
              </a:rPr>
              <a:t>Enhancements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7042" y="2545985"/>
            <a:ext cx="3655290" cy="1831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/>
          </a:p>
        </p:txBody>
      </p:sp>
      <p:sp>
        <p:nvSpPr>
          <p:cNvPr id="10" name="Text 5"/>
          <p:cNvSpPr/>
          <p:nvPr/>
        </p:nvSpPr>
        <p:spPr>
          <a:xfrm>
            <a:off x="727042" y="2363008"/>
            <a:ext cx="3655290" cy="2837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30398" y="2545985"/>
            <a:ext cx="4495739" cy="354506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03520" y="218017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375C"/>
                </a:solidFill>
              </a:rPr>
              <a:t>Accuracy Comparison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6B67D8-630F-935A-EA35-ABCF10408016}"/>
              </a:ext>
            </a:extLst>
          </p:cNvPr>
          <p:cNvSpPr txBox="1"/>
          <p:nvPr/>
        </p:nvSpPr>
        <p:spPr>
          <a:xfrm>
            <a:off x="498658" y="1979867"/>
            <a:ext cx="388367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253A"/>
                </a:solidFill>
              </a:rPr>
              <a:t>Stronger augmentation </a:t>
            </a:r>
            <a:r>
              <a:rPr lang="en-US" sz="2000" dirty="0">
                <a:solidFill>
                  <a:srgbClr val="0F253A"/>
                </a:solidFill>
              </a:rPr>
              <a:t>(flip, rotate, jitter)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53A"/>
                </a:solidFill>
              </a:rPr>
              <a:t>Learning‑rate scheduler </a:t>
            </a:r>
            <a:r>
              <a:rPr lang="en-US" sz="2000" b="1" dirty="0">
                <a:solidFill>
                  <a:srgbClr val="0F253A"/>
                </a:solidFill>
              </a:rPr>
              <a:t>for stable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F253A"/>
                </a:solidFill>
              </a:rPr>
              <a:t>Class‑weighted loss to handle imbalance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F253A"/>
                </a:solidFill>
              </a:rPr>
              <a:t>Improved model </a:t>
            </a:r>
            <a:r>
              <a:rPr lang="en-US" sz="2000" dirty="0">
                <a:solidFill>
                  <a:srgbClr val="0F253A"/>
                </a:solidFill>
              </a:rPr>
              <a:t>reaches an overall accuracy of </a:t>
            </a:r>
            <a:r>
              <a:rPr lang="en-US" sz="2000" b="1" dirty="0">
                <a:solidFill>
                  <a:srgbClr val="0F253A"/>
                </a:solidFill>
              </a:rPr>
              <a:t>0.88</a:t>
            </a:r>
            <a:r>
              <a:rPr lang="en-US" sz="2000" dirty="0">
                <a:solidFill>
                  <a:srgbClr val="0F253A"/>
                </a:solidFill>
              </a:rPr>
              <a:t>
</a:t>
            </a:r>
            <a:r>
              <a:rPr lang="en-US" sz="2000" b="1" dirty="0">
                <a:solidFill>
                  <a:srgbClr val="0F253A"/>
                </a:solidFill>
              </a:rPr>
              <a:t>Greater recall </a:t>
            </a:r>
            <a:r>
              <a:rPr lang="en-US" sz="2000" dirty="0">
                <a:solidFill>
                  <a:srgbClr val="0F253A"/>
                </a:solidFill>
              </a:rPr>
              <a:t>for minority class “trash” (100% recall)
</a:t>
            </a:r>
            <a:r>
              <a:rPr lang="en-US" sz="2000" b="1" dirty="0">
                <a:solidFill>
                  <a:srgbClr val="0F253A"/>
                </a:solidFill>
              </a:rPr>
              <a:t>Slightly higher precision </a:t>
            </a:r>
            <a:r>
              <a:rPr lang="en-US" sz="2000" dirty="0">
                <a:solidFill>
                  <a:srgbClr val="0F253A"/>
                </a:solidFill>
              </a:rPr>
              <a:t>on common classes compared to baseline</a:t>
            </a:r>
          </a:p>
          <a:p>
            <a:endParaRPr lang="en-US" sz="2000" dirty="0"/>
          </a:p>
          <a:p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548640"/>
          </a:xfrm>
          <a:prstGeom prst="rect">
            <a:avLst/>
          </a:prstGeom>
          <a:solidFill>
            <a:srgbClr val="10375C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4869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Hybrid Model: Deep Features + Logistic Regression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97387"/>
            <a:ext cx="7990114" cy="2990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dirty="0">
                <a:solidFill>
                  <a:srgbClr val="10375C"/>
                </a:solidFill>
              </a:rPr>
              <a:t>Rationale</a:t>
            </a:r>
            <a:endParaRPr lang="en-US" sz="1600" b="1" dirty="0">
              <a:solidFill>
                <a:srgbClr val="10375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253A"/>
                </a:solidFill>
              </a:rPr>
              <a:t>Freeze the </a:t>
            </a:r>
            <a:r>
              <a:rPr lang="en-US" sz="2400" b="1" dirty="0">
                <a:solidFill>
                  <a:srgbClr val="0F253A"/>
                </a:solidFill>
              </a:rPr>
              <a:t>improved CNN as a feature extractor</a:t>
            </a:r>
            <a:r>
              <a:rPr lang="en-US" sz="2400" dirty="0">
                <a:solidFill>
                  <a:srgbClr val="0F253A"/>
                </a:solidFill>
              </a:rPr>
              <a:t>.
Train a </a:t>
            </a:r>
            <a:r>
              <a:rPr lang="en-US" sz="2400" b="1" dirty="0">
                <a:solidFill>
                  <a:srgbClr val="0F253A"/>
                </a:solidFill>
              </a:rPr>
              <a:t>multinomial logistic regression </a:t>
            </a:r>
            <a:r>
              <a:rPr lang="en-US" sz="2400" dirty="0">
                <a:solidFill>
                  <a:srgbClr val="0F253A"/>
                </a:solidFill>
              </a:rPr>
              <a:t>on the </a:t>
            </a:r>
            <a:r>
              <a:rPr lang="en-US" sz="2400" b="1" dirty="0">
                <a:solidFill>
                  <a:srgbClr val="0F253A"/>
                </a:solidFill>
              </a:rPr>
              <a:t>extracted features.</a:t>
            </a:r>
            <a:r>
              <a:rPr lang="en-US" sz="2400" dirty="0">
                <a:solidFill>
                  <a:srgbClr val="0F253A"/>
                </a:solidFill>
              </a:rPr>
              <a:t>
Provides interpretability and </a:t>
            </a:r>
            <a:r>
              <a:rPr lang="en-US" sz="2400" b="1" dirty="0">
                <a:solidFill>
                  <a:srgbClr val="0F253A"/>
                </a:solidFill>
              </a:rPr>
              <a:t>competitive accuracy (0.89).</a:t>
            </a:r>
            <a:r>
              <a:rPr lang="en-US" sz="2400" dirty="0">
                <a:solidFill>
                  <a:srgbClr val="0F253A"/>
                </a:solidFill>
              </a:rPr>
              <a:t>
</a:t>
            </a:r>
            <a:r>
              <a:rPr lang="en-US" sz="2400" b="1" dirty="0">
                <a:solidFill>
                  <a:srgbClr val="0F253A"/>
                </a:solidFill>
              </a:rPr>
              <a:t>Particularly effective </a:t>
            </a:r>
            <a:r>
              <a:rPr lang="en-US" sz="2400" dirty="0">
                <a:solidFill>
                  <a:srgbClr val="0F253A"/>
                </a:solidFill>
              </a:rPr>
              <a:t>for imbalanced datasets.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0223" y="2328426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E1F3EF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40223" y="232842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0375C"/>
                </a:solidFill>
              </a:rPr>
              <a:t>Image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11823" y="2557026"/>
            <a:ext cx="365760" cy="182880"/>
          </a:xfrm>
          <a:prstGeom prst="rightArrow">
            <a:avLst/>
          </a:prstGeom>
          <a:solidFill>
            <a:srgbClr val="20B38E"/>
          </a:solidFill>
          <a:ln w="12700">
            <a:solidFill>
              <a:srgbClr val="20B3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886143" y="2328426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E1F3EF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886143" y="232842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0375C"/>
                </a:solidFill>
              </a:rPr>
              <a:t>Fixed CNN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40623" y="2557026"/>
            <a:ext cx="365760" cy="182880"/>
          </a:xfrm>
          <a:prstGeom prst="rightArrow">
            <a:avLst/>
          </a:prstGeom>
          <a:solidFill>
            <a:srgbClr val="20B38E"/>
          </a:solidFill>
          <a:ln w="12700">
            <a:solidFill>
              <a:srgbClr val="20B3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806383" y="2328426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E1F3EF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806383" y="232842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0375C"/>
                </a:solidFill>
              </a:rPr>
              <a:t>Feature Vector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60863" y="2557026"/>
            <a:ext cx="365760" cy="182880"/>
          </a:xfrm>
          <a:prstGeom prst="rightArrow">
            <a:avLst/>
          </a:prstGeom>
          <a:solidFill>
            <a:srgbClr val="20B38E"/>
          </a:solidFill>
          <a:ln w="12700">
            <a:solidFill>
              <a:srgbClr val="20B3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726623" y="2328426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E1F3EF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726623" y="232842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0375C"/>
                </a:solidFill>
              </a:rPr>
              <a:t>Logistic Reg.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81103" y="2557026"/>
            <a:ext cx="365760" cy="182880"/>
          </a:xfrm>
          <a:prstGeom prst="rightArrow">
            <a:avLst/>
          </a:prstGeom>
          <a:solidFill>
            <a:srgbClr val="20B38E"/>
          </a:solidFill>
          <a:ln w="12700">
            <a:solidFill>
              <a:srgbClr val="20B3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646863" y="2328426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E1F3EF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646863" y="232842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0375C"/>
                </a:solidFill>
              </a:rPr>
              <a:t>6 Classes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548640"/>
          </a:xfrm>
          <a:prstGeom prst="rect">
            <a:avLst/>
          </a:prstGeom>
          <a:solidFill>
            <a:srgbClr val="10375C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4869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Evaluation &amp;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53397" y="1671023"/>
            <a:ext cx="4004247" cy="22369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dirty="0">
                <a:solidFill>
                  <a:srgbClr val="10375C"/>
                </a:solidFill>
              </a:rPr>
              <a:t>Performance Summary</a:t>
            </a:r>
          </a:p>
          <a:p>
            <a:r>
              <a:rPr lang="en-US" dirty="0">
                <a:solidFill>
                  <a:srgbClr val="0F253A"/>
                </a:solidFill>
              </a:rPr>
              <a:t>
• </a:t>
            </a:r>
            <a:r>
              <a:rPr lang="en-US" b="1" dirty="0">
                <a:solidFill>
                  <a:srgbClr val="0F253A"/>
                </a:solidFill>
              </a:rPr>
              <a:t>Hybrid model slightly improves </a:t>
            </a:r>
            <a:r>
              <a:rPr lang="en-US" dirty="0">
                <a:solidFill>
                  <a:srgbClr val="0F253A"/>
                </a:solidFill>
              </a:rPr>
              <a:t>macro precision and recall.
• Misclassifications: shiny plastic vs glass, mixed materials, unusual angles.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50081" y="2401656"/>
            <a:ext cx="4693919" cy="43541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86357" y="1740731"/>
            <a:ext cx="4145280" cy="409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0375C"/>
                </a:solidFill>
              </a:rPr>
              <a:t>Confusion Matrix (Improved)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076916"/>
              </p:ext>
            </p:extLst>
          </p:nvPr>
        </p:nvGraphicFramePr>
        <p:xfrm>
          <a:off x="253397" y="3558581"/>
          <a:ext cx="4147458" cy="2040287"/>
        </p:xfrm>
        <a:graphic>
          <a:graphicData uri="http://schemas.openxmlformats.org/drawingml/2006/table">
            <a:tbl>
              <a:tblPr/>
              <a:tblGrid>
                <a:gridCol w="968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06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Macro Precision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Macro Recall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253A"/>
                          </a:solidFill>
                        </a:rPr>
                        <a:t>Baseline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253A"/>
                          </a:solidFill>
                        </a:rPr>
                        <a:t>0.87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253A"/>
                          </a:solidFill>
                        </a:rPr>
                        <a:t>0.87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253A"/>
                          </a:solidFill>
                        </a:rPr>
                        <a:t>0.89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253A"/>
                          </a:solidFill>
                        </a:rPr>
                        <a:t>Improved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253A"/>
                          </a:solidFill>
                        </a:rPr>
                        <a:t>0.88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253A"/>
                          </a:solidFill>
                        </a:rPr>
                        <a:t>0.87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253A"/>
                          </a:solidFill>
                        </a:rPr>
                        <a:t>0.89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253A"/>
                          </a:solidFill>
                        </a:rPr>
                        <a:t>Hybrid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253A"/>
                          </a:solidFill>
                        </a:rPr>
                        <a:t>0.89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253A"/>
                          </a:solidFill>
                        </a:rPr>
                        <a:t>0.89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F253A"/>
                          </a:solidFill>
                        </a:rPr>
                        <a:t>0.88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37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C73E628-86B1-42D1-B489-B772890B65D4}"/>
              </a:ext>
            </a:extLst>
          </p:cNvPr>
          <p:cNvSpPr/>
          <p:nvPr/>
        </p:nvSpPr>
        <p:spPr>
          <a:xfrm>
            <a:off x="225888" y="1627736"/>
            <a:ext cx="4114799" cy="4656834"/>
          </a:xfrm>
          <a:prstGeom prst="roundRect">
            <a:avLst>
              <a:gd name="adj" fmla="val 43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FDF9D6-ADF8-3157-C73E-2E8EFCA52527}"/>
              </a:ext>
            </a:extLst>
          </p:cNvPr>
          <p:cNvSpPr/>
          <p:nvPr/>
        </p:nvSpPr>
        <p:spPr>
          <a:xfrm>
            <a:off x="4523953" y="1627736"/>
            <a:ext cx="4114800" cy="4620663"/>
          </a:xfrm>
          <a:prstGeom prst="roundRect">
            <a:avLst>
              <a:gd name="adj" fmla="val 43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857250"/>
            <a:ext cx="9144000" cy="548640"/>
          </a:xfrm>
          <a:prstGeom prst="rect">
            <a:avLst/>
          </a:prstGeom>
          <a:solidFill>
            <a:srgbClr val="10375C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4869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</a:rPr>
              <a:t>Limitations &amp; Future Work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268" y="2210639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7717" y="2113774"/>
            <a:ext cx="3902970" cy="39713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dirty="0">
                <a:solidFill>
                  <a:srgbClr val="10375C"/>
                </a:solidFill>
              </a:rPr>
              <a:t>Limitations</a:t>
            </a:r>
          </a:p>
          <a:p>
            <a:endParaRPr lang="en-US" sz="1600" b="1" dirty="0">
              <a:solidFill>
                <a:srgbClr val="10375C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253A"/>
                </a:solidFill>
              </a:rPr>
              <a:t>Small, controlled dataset</a:t>
            </a:r>
            <a:r>
              <a:rPr lang="en-US" dirty="0">
                <a:solidFill>
                  <a:srgbClr val="0F253A"/>
                </a:solidFill>
              </a:rPr>
              <a:t> limits generalisation to </a:t>
            </a:r>
            <a:r>
              <a:rPr lang="en-US" b="1" dirty="0">
                <a:solidFill>
                  <a:srgbClr val="0F253A"/>
                </a:solidFill>
              </a:rPr>
              <a:t>real‑world scenes</a:t>
            </a:r>
            <a:r>
              <a:rPr lang="en-US" dirty="0">
                <a:solidFill>
                  <a:srgbClr val="0F253A"/>
                </a:solidFill>
              </a:rPr>
              <a:t>.
</a:t>
            </a:r>
            <a:r>
              <a:rPr lang="en-US" b="1" dirty="0">
                <a:solidFill>
                  <a:srgbClr val="0F253A"/>
                </a:solidFill>
              </a:rPr>
              <a:t>Challenging classes </a:t>
            </a:r>
            <a:r>
              <a:rPr lang="en-US" dirty="0">
                <a:solidFill>
                  <a:srgbClr val="0F253A"/>
                </a:solidFill>
              </a:rPr>
              <a:t>remain (e.g. shiny plastic vs glass, mixed materials).
</a:t>
            </a:r>
            <a:r>
              <a:rPr lang="en-US" b="1" dirty="0">
                <a:solidFill>
                  <a:srgbClr val="0F253A"/>
                </a:solidFill>
              </a:rPr>
              <a:t>Single‑item</a:t>
            </a:r>
            <a:r>
              <a:rPr lang="en-US" dirty="0">
                <a:solidFill>
                  <a:srgbClr val="0F253A"/>
                </a:solidFill>
              </a:rPr>
              <a:t> photos only; not suited for bin detection or cluttered backgrounds.
</a:t>
            </a:r>
            <a:r>
              <a:rPr lang="en-US" b="1" dirty="0">
                <a:solidFill>
                  <a:srgbClr val="0F253A"/>
                </a:solidFill>
              </a:rPr>
              <a:t>Class imbalance biases </a:t>
            </a:r>
            <a:r>
              <a:rPr lang="en-US" dirty="0">
                <a:solidFill>
                  <a:srgbClr val="0F253A"/>
                </a:solidFill>
              </a:rPr>
              <a:t>the model towards common classes.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281" y="2113775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02439" y="2113775"/>
            <a:ext cx="3910189" cy="39713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200" b="1" dirty="0">
                <a:solidFill>
                  <a:srgbClr val="10375C"/>
                </a:solidFill>
              </a:rPr>
              <a:t>Future Directions</a:t>
            </a:r>
            <a:r>
              <a:rPr lang="en-US" sz="1400" b="1" dirty="0">
                <a:solidFill>
                  <a:srgbClr val="10375C"/>
                </a:solidFill>
              </a:rPr>
              <a:t>
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253A"/>
                </a:solidFill>
              </a:rPr>
              <a:t>Collect diverse</a:t>
            </a:r>
            <a:r>
              <a:rPr lang="en-US" dirty="0">
                <a:solidFill>
                  <a:srgbClr val="0F253A"/>
                </a:solidFill>
              </a:rPr>
              <a:t>, in‑the‑wild waste images and </a:t>
            </a:r>
            <a:r>
              <a:rPr lang="en-US" b="1" dirty="0">
                <a:solidFill>
                  <a:srgbClr val="0F253A"/>
                </a:solidFill>
              </a:rPr>
              <a:t>enlarge the dataset.</a:t>
            </a:r>
            <a:r>
              <a:rPr lang="en-US" dirty="0">
                <a:solidFill>
                  <a:srgbClr val="0F253A"/>
                </a:solidFill>
              </a:rPr>
              <a:t>
Extend from classification to </a:t>
            </a:r>
            <a:r>
              <a:rPr lang="en-US" b="1" dirty="0">
                <a:solidFill>
                  <a:srgbClr val="0F253A"/>
                </a:solidFill>
              </a:rPr>
              <a:t>object detection </a:t>
            </a:r>
            <a:r>
              <a:rPr lang="en-US" dirty="0">
                <a:solidFill>
                  <a:srgbClr val="0F253A"/>
                </a:solidFill>
              </a:rPr>
              <a:t>(YOLO/Faster R‑CNN).
Explore </a:t>
            </a:r>
            <a:r>
              <a:rPr lang="en-US" b="1" dirty="0">
                <a:solidFill>
                  <a:srgbClr val="0F253A"/>
                </a:solidFill>
              </a:rPr>
              <a:t>attention mechanisms </a:t>
            </a:r>
            <a:r>
              <a:rPr lang="en-US" dirty="0">
                <a:solidFill>
                  <a:srgbClr val="0F253A"/>
                </a:solidFill>
              </a:rPr>
              <a:t>and </a:t>
            </a:r>
            <a:r>
              <a:rPr lang="en-US" b="1" dirty="0">
                <a:solidFill>
                  <a:srgbClr val="0F253A"/>
                </a:solidFill>
              </a:rPr>
              <a:t>transformer architectures.</a:t>
            </a:r>
            <a:r>
              <a:rPr lang="en-US" dirty="0">
                <a:solidFill>
                  <a:srgbClr val="0F253A"/>
                </a:solidFill>
              </a:rPr>
              <a:t>
Deploy lightweight models on </a:t>
            </a:r>
            <a:r>
              <a:rPr lang="en-US" b="1" dirty="0">
                <a:solidFill>
                  <a:srgbClr val="0F253A"/>
                </a:solidFill>
              </a:rPr>
              <a:t>embedded devices </a:t>
            </a:r>
            <a:r>
              <a:rPr lang="en-US" dirty="0">
                <a:solidFill>
                  <a:srgbClr val="0F253A"/>
                </a:solidFill>
              </a:rPr>
              <a:t>for </a:t>
            </a:r>
            <a:r>
              <a:rPr lang="en-US" b="1" dirty="0">
                <a:solidFill>
                  <a:srgbClr val="0F253A"/>
                </a:solidFill>
              </a:rPr>
              <a:t>smart bins.</a:t>
            </a:r>
            <a:endParaRPr lang="en-US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A5C8ED-5BB3-6A95-6E1C-9F0C13ED209C}"/>
              </a:ext>
            </a:extLst>
          </p:cNvPr>
          <p:cNvSpPr/>
          <p:nvPr/>
        </p:nvSpPr>
        <p:spPr>
          <a:xfrm>
            <a:off x="0" y="982918"/>
            <a:ext cx="9144000" cy="548640"/>
          </a:xfrm>
          <a:prstGeom prst="rect">
            <a:avLst/>
          </a:prstGeom>
          <a:solidFill>
            <a:srgbClr val="10375C"/>
          </a:solidFill>
          <a:ln w="12700">
            <a:solidFill>
              <a:srgbClr val="1037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1"/>
          <p:cNvSpPr/>
          <p:nvPr/>
        </p:nvSpPr>
        <p:spPr>
          <a:xfrm>
            <a:off x="457200" y="10009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Conclusion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74916" y="1990623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Our improved deep model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achieved the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best balance of accuracy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 class‑wise performance (0.88 overall).
The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hybrid approach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using deep features and logistic regression offered interpretability with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comparable and strong accuracy (0.89).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
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augmentation and class weighting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were critical for robustness on imbalanced, small datasets.
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Real‑world deployment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will require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larger, more diverse data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 extension to detection tasks.</a:t>
            </a:r>
          </a:p>
        </p:txBody>
      </p:sp>
      <p:sp>
        <p:nvSpPr>
          <p:cNvPr id="6" name="Text 3"/>
          <p:cNvSpPr/>
          <p:nvPr/>
        </p:nvSpPr>
        <p:spPr>
          <a:xfrm>
            <a:off x="2499103" y="4867377"/>
            <a:ext cx="386682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Thank you!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667</Words>
  <Application>Microsoft Office PowerPoint</Application>
  <PresentationFormat>On-screen Show (4:3)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M, Kaushik</cp:lastModifiedBy>
  <cp:revision>2</cp:revision>
  <dcterms:created xsi:type="dcterms:W3CDTF">2013-01-27T09:14:16Z</dcterms:created>
  <dcterms:modified xsi:type="dcterms:W3CDTF">2025-12-06T14:12:20Z</dcterms:modified>
  <cp:category/>
</cp:coreProperties>
</file>